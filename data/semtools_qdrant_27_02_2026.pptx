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nva Sans" charset="1" panose="020B0503030501040103"/>
      <p:regular r:id="rId17"/>
    </p:embeddedFont>
    <p:embeddedFont>
      <p:font typeface="Canva Sans Bold" charset="1" panose="020B0803030501040103"/>
      <p:regular r:id="rId18"/>
    </p:embeddedFont>
    <p:embeddedFont>
      <p:font typeface="Balsamiq Sans Bold" charset="1" panose="02000603000000000000"/>
      <p:regular r:id="rId19"/>
    </p:embeddedFont>
    <p:embeddedFont>
      <p:font typeface="Canva Sans Italics" charset="1" panose="020B05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https://www.linkedin.com/in/clelia-astra-bertelli-583904297/" TargetMode="External" Type="http://schemas.openxmlformats.org/officeDocument/2006/relationships/hyperlink"/><Relationship Id="rId8" Target="https://www.linkedin.com/in/clelia-astra-bertelli-583904297/" TargetMode="External" Type="http://schemas.openxmlformats.org/officeDocument/2006/relationships/hyperlink"/><Relationship Id="rId9" Target="https://x.com/itsclelia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https://www.linkedin.com/in/logan-markewich/overlay/about-this-profile/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https://github.com/run-llama/semtools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413727"/>
            <a:ext cx="4642443" cy="4642443"/>
          </a:xfrm>
          <a:custGeom>
            <a:avLst/>
            <a:gdLst/>
            <a:ahLst/>
            <a:cxnLst/>
            <a:rect r="r" b="b" t="t" l="l"/>
            <a:pathLst>
              <a:path h="4642443" w="4642443">
                <a:moveTo>
                  <a:pt x="0" y="0"/>
                </a:moveTo>
                <a:lnTo>
                  <a:pt x="4642443" y="0"/>
                </a:lnTo>
                <a:lnTo>
                  <a:pt x="4642443" y="4642443"/>
                </a:lnTo>
                <a:lnTo>
                  <a:pt x="0" y="46424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96867" y="2794393"/>
            <a:ext cx="12045406" cy="3795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34488" indent="-467244" lvl="1">
              <a:lnSpc>
                <a:spcPts val="6059"/>
              </a:lnSpc>
              <a:buFont typeface="Arial"/>
              <a:buChar char="•"/>
            </a:pPr>
            <a:r>
              <a:rPr lang="en-US" sz="432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Open Source Engineer At LlamaIndex</a:t>
            </a:r>
          </a:p>
          <a:p>
            <a:pPr algn="l" marL="934488" indent="-467244" lvl="1">
              <a:lnSpc>
                <a:spcPts val="6059"/>
              </a:lnSpc>
              <a:buFont typeface="Arial"/>
              <a:buChar char="•"/>
            </a:pPr>
            <a:r>
              <a:rPr lang="en-US" sz="432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Passionate about AI, programming and OSS</a:t>
            </a:r>
          </a:p>
          <a:p>
            <a:pPr algn="l" marL="934488" indent="-467244" lvl="1">
              <a:lnSpc>
                <a:spcPts val="6059"/>
              </a:lnSpc>
              <a:buFont typeface="Arial"/>
              <a:buChar char="•"/>
            </a:pPr>
            <a:r>
              <a:rPr lang="en-US" sz="432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Mostly a python coder, but I also use Go, TS and Rust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7439172"/>
            <a:ext cx="700065" cy="596964"/>
          </a:xfrm>
          <a:custGeom>
            <a:avLst/>
            <a:gdLst/>
            <a:ahLst/>
            <a:cxnLst/>
            <a:rect r="r" b="b" t="t" l="l"/>
            <a:pathLst>
              <a:path h="596964" w="700065">
                <a:moveTo>
                  <a:pt x="0" y="0"/>
                </a:moveTo>
                <a:lnTo>
                  <a:pt x="700065" y="0"/>
                </a:lnTo>
                <a:lnTo>
                  <a:pt x="700065" y="596965"/>
                </a:lnTo>
                <a:lnTo>
                  <a:pt x="0" y="5969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8212710"/>
            <a:ext cx="549917" cy="561140"/>
          </a:xfrm>
          <a:custGeom>
            <a:avLst/>
            <a:gdLst/>
            <a:ahLst/>
            <a:cxnLst/>
            <a:rect r="r" b="b" t="t" l="l"/>
            <a:pathLst>
              <a:path h="561140" w="549917">
                <a:moveTo>
                  <a:pt x="0" y="0"/>
                </a:moveTo>
                <a:lnTo>
                  <a:pt x="549917" y="0"/>
                </a:lnTo>
                <a:lnTo>
                  <a:pt x="549917" y="561140"/>
                </a:lnTo>
                <a:lnTo>
                  <a:pt x="0" y="5611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368430" y="159703"/>
            <a:ext cx="55511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About 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8765" y="7484925"/>
            <a:ext cx="5582692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u="sng">
                <a:solidFill>
                  <a:srgbClr val="0A66C2"/>
                </a:solidFill>
                <a:latin typeface="Canva Sans"/>
                <a:ea typeface="Canva Sans"/>
                <a:cs typeface="Canva Sans"/>
                <a:sym typeface="Canva Sans"/>
                <a:hlinkClick r:id="rId7" tooltip="https://www.linkedin.com/in/clelia-astra-bertelli-583904297/"/>
              </a:rPr>
              <a:t>/</a:t>
            </a:r>
            <a:r>
              <a:rPr lang="en-US" sz="2600" u="sng">
                <a:solidFill>
                  <a:srgbClr val="0A66C2"/>
                </a:solidFill>
                <a:latin typeface="Canva Sans"/>
                <a:ea typeface="Canva Sans"/>
                <a:cs typeface="Canva Sans"/>
                <a:sym typeface="Canva Sans"/>
                <a:hlinkClick r:id="rId8" tooltip="https://www.linkedin.com/in/clelia-astra-bertelli-583904297/"/>
              </a:rPr>
              <a:t>in/clelia-astra-bertelli-583904297/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8765" y="8155560"/>
            <a:ext cx="154766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u="sng">
                <a:solidFill>
                  <a:srgbClr val="0A66C2"/>
                </a:solidFill>
                <a:latin typeface="Canva Sans"/>
                <a:ea typeface="Canva Sans"/>
                <a:cs typeface="Canva Sans"/>
                <a:sym typeface="Canva Sans"/>
                <a:hlinkClick r:id="rId9" tooltip="https://x.com/itsclelia"/>
              </a:rPr>
              <a:t>@itsclelia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442347" y="7056170"/>
            <a:ext cx="6954446" cy="2657390"/>
          </a:xfrm>
          <a:custGeom>
            <a:avLst/>
            <a:gdLst/>
            <a:ahLst/>
            <a:cxnLst/>
            <a:rect r="r" b="b" t="t" l="l"/>
            <a:pathLst>
              <a:path h="2657390" w="6954446">
                <a:moveTo>
                  <a:pt x="0" y="0"/>
                </a:moveTo>
                <a:lnTo>
                  <a:pt x="6954446" y="0"/>
                </a:lnTo>
                <a:lnTo>
                  <a:pt x="6954446" y="2657390"/>
                </a:lnTo>
                <a:lnTo>
                  <a:pt x="0" y="265739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04026" y="4435673"/>
            <a:ext cx="1459977" cy="1501262"/>
          </a:xfrm>
          <a:custGeom>
            <a:avLst/>
            <a:gdLst/>
            <a:ahLst/>
            <a:cxnLst/>
            <a:rect r="r" b="b" t="t" l="l"/>
            <a:pathLst>
              <a:path h="1501262" w="1459977">
                <a:moveTo>
                  <a:pt x="0" y="0"/>
                </a:moveTo>
                <a:lnTo>
                  <a:pt x="1459978" y="0"/>
                </a:lnTo>
                <a:lnTo>
                  <a:pt x="1459978" y="1501262"/>
                </a:lnTo>
                <a:lnTo>
                  <a:pt x="0" y="15012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59703"/>
            <a:ext cx="18288000" cy="296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8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Background On Today’s Discussion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072907" y="6160963"/>
            <a:ext cx="2722215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semtools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211879" y="3812103"/>
            <a:ext cx="4807893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Document intelligence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 the CLI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6524" y="3812103"/>
            <a:ext cx="6449627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Created by </a:t>
            </a:r>
            <a:r>
              <a:rPr lang="en-US" sz="3399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4" tooltip="https://www.linkedin.com/in/logan-markewich/overlay/about-this-profile/"/>
              </a:rPr>
              <a:t>Logan Markewich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(Head of OSS at LlamaIndex) in August 2025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8077835"/>
            <a:ext cx="7118429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Written in Rust for high performance and reliability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12324" y="7630675"/>
            <a:ext cx="4607448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Embeds with static embeddings, and performs local search (+ RAG with OpenAI)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58504" y="6278443"/>
            <a:ext cx="423922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Now at v3.0.0,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1.6K stars on GitHub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00318" y="5421510"/>
            <a:ext cx="4231013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arses unstructured documents with LlamaParse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65521" y="1965021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63528" y="212728"/>
            <a:ext cx="11360944" cy="146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8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Give Semtools A Star!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27289" y="8522004"/>
            <a:ext cx="1023342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3" tooltip="https://github.com/run-llama/semtools"/>
              </a:rPr>
              <a:t>github.com/run-llama/semtools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06949" y="159703"/>
            <a:ext cx="10674102" cy="296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8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Storage: </a:t>
            </a:r>
          </a:p>
          <a:p>
            <a:pPr algn="ctr">
              <a:lnSpc>
                <a:spcPts val="11900"/>
              </a:lnSpc>
            </a:pPr>
            <a:r>
              <a:rPr lang="en-US" sz="8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Initial Approach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27831" y="5067300"/>
            <a:ext cx="2136428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Rust SDK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18951" y="3840736"/>
            <a:ext cx="7434709" cy="131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Support for vector embeddings </a:t>
            </a:r>
          </a:p>
          <a:p>
            <a:pPr algn="ctr">
              <a:lnSpc>
                <a:spcPts val="5319"/>
              </a:lnSpc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metadata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057733" y="5251014"/>
            <a:ext cx="4515743" cy="131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Embedded storage </a:t>
            </a:r>
          </a:p>
          <a:p>
            <a:pPr algn="ctr">
              <a:lnSpc>
                <a:spcPts val="5319"/>
              </a:lnSpc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backed up to disk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213857" y="5153916"/>
            <a:ext cx="13120798" cy="3033802"/>
            <a:chOff x="0" y="0"/>
            <a:chExt cx="17494397" cy="40450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555594" y="2516790"/>
              <a:ext cx="6548677" cy="1528279"/>
            </a:xfrm>
            <a:custGeom>
              <a:avLst/>
              <a:gdLst/>
              <a:ahLst/>
              <a:cxnLst/>
              <a:rect r="r" b="b" t="t" l="l"/>
              <a:pathLst>
                <a:path h="1528279" w="6548677">
                  <a:moveTo>
                    <a:pt x="0" y="0"/>
                  </a:moveTo>
                  <a:lnTo>
                    <a:pt x="6548676" y="0"/>
                  </a:lnTo>
                  <a:lnTo>
                    <a:pt x="6548676" y="1528279"/>
                  </a:lnTo>
                  <a:lnTo>
                    <a:pt x="0" y="15282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8" id="8"/>
            <p:cNvSpPr/>
            <p:nvPr/>
          </p:nvSpPr>
          <p:spPr>
            <a:xfrm>
              <a:off x="25400" y="1055718"/>
              <a:ext cx="5237776" cy="2225212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9" id="9"/>
            <p:cNvSpPr/>
            <p:nvPr/>
          </p:nvSpPr>
          <p:spPr>
            <a:xfrm>
              <a:off x="8829932" y="0"/>
              <a:ext cx="0" cy="251679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10" id="10"/>
            <p:cNvSpPr/>
            <p:nvPr/>
          </p:nvSpPr>
          <p:spPr>
            <a:xfrm flipH="true">
              <a:off x="12104270" y="1880371"/>
              <a:ext cx="5364727" cy="1400558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1565" y="2350435"/>
            <a:ext cx="8000908" cy="6681958"/>
            <a:chOff x="0" y="0"/>
            <a:chExt cx="10667877" cy="89092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962339" y="0"/>
              <a:ext cx="2743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2743200"/>
                  </a:lnTo>
                  <a:lnTo>
                    <a:pt x="0" y="274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3020195"/>
              <a:ext cx="10667877" cy="15896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99"/>
                </a:lnSpc>
              </a:pPr>
              <a:r>
                <a:rPr lang="en-US" sz="34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Size: the total binary size accounted approximately to 2.8GB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5333939" y="4609812"/>
              <a:ext cx="0" cy="2187033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TextBox 6" id="6"/>
            <p:cNvSpPr txBox="true"/>
            <p:nvPr/>
          </p:nvSpPr>
          <p:spPr>
            <a:xfrm rot="0">
              <a:off x="1755654" y="6557449"/>
              <a:ext cx="7534077" cy="2351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Slow CI, slow deployments </a:t>
              </a:r>
            </a:p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(between 20 and 40 minutes)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99648" y="5391377"/>
            <a:ext cx="7457926" cy="4797739"/>
            <a:chOff x="0" y="0"/>
            <a:chExt cx="9943902" cy="639698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636907" y="0"/>
              <a:ext cx="2670088" cy="3256205"/>
            </a:xfrm>
            <a:custGeom>
              <a:avLst/>
              <a:gdLst/>
              <a:ahLst/>
              <a:cxnLst/>
              <a:rect r="r" b="b" t="t" l="l"/>
              <a:pathLst>
                <a:path h="3256205" w="2670088">
                  <a:moveTo>
                    <a:pt x="0" y="0"/>
                  </a:moveTo>
                  <a:lnTo>
                    <a:pt x="2670088" y="0"/>
                  </a:lnTo>
                  <a:lnTo>
                    <a:pt x="2670088" y="3256205"/>
                  </a:lnTo>
                  <a:lnTo>
                    <a:pt x="0" y="32562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3596636"/>
              <a:ext cx="9943902" cy="2800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Security: the LanceDB </a:t>
              </a:r>
            </a:p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crate had several dependencies that did </a:t>
              </a:r>
            </a:p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not pass the security checks</a:t>
              </a: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with cargo audit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428611" y="1620198"/>
            <a:ext cx="8000908" cy="3970007"/>
            <a:chOff x="0" y="0"/>
            <a:chExt cx="10667877" cy="52933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3587755" y="0"/>
              <a:ext cx="2312315" cy="2890393"/>
            </a:xfrm>
            <a:custGeom>
              <a:avLst/>
              <a:gdLst/>
              <a:ahLst/>
              <a:cxnLst/>
              <a:rect r="r" b="b" t="t" l="l"/>
              <a:pathLst>
                <a:path h="2890393" w="2312315">
                  <a:moveTo>
                    <a:pt x="0" y="0"/>
                  </a:moveTo>
                  <a:lnTo>
                    <a:pt x="2312315" y="0"/>
                  </a:lnTo>
                  <a:lnTo>
                    <a:pt x="2312315" y="2890393"/>
                  </a:lnTo>
                  <a:lnTo>
                    <a:pt x="0" y="2890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3096666"/>
              <a:ext cx="10667877" cy="21966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Verbosity: Table-based syntax </a:t>
              </a:r>
            </a:p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made LanceDB-related Rust difficult</a:t>
              </a:r>
            </a:p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to read and write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548435" y="-44781"/>
            <a:ext cx="11191131" cy="146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8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Three Main Problems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63851" y="5143500"/>
            <a:ext cx="5360298" cy="1427179"/>
          </a:xfrm>
          <a:custGeom>
            <a:avLst/>
            <a:gdLst/>
            <a:ahLst/>
            <a:cxnLst/>
            <a:rect r="r" b="b" t="t" l="l"/>
            <a:pathLst>
              <a:path h="1427179" w="5360298">
                <a:moveTo>
                  <a:pt x="0" y="0"/>
                </a:moveTo>
                <a:lnTo>
                  <a:pt x="5360298" y="0"/>
                </a:lnTo>
                <a:lnTo>
                  <a:pt x="5360298" y="1427179"/>
                </a:lnTo>
                <a:lnTo>
                  <a:pt x="0" y="14271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25191" y="18137"/>
            <a:ext cx="14037618" cy="146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8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Qdrant Edge to the Rescue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03344" y="3026805"/>
            <a:ext cx="699422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Embedded vector and metadata storage with disk backups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78503" y="8187941"/>
            <a:ext cx="400347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Smaller binary size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06482" y="7220902"/>
            <a:ext cx="7381518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Rust SDK with Payload Metadata and Filtering-based syntax (more intuitive)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71688" y="2726767"/>
            <a:ext cx="595818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vulnerable dependencies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3008" y="2861187"/>
            <a:ext cx="8785291" cy="6076640"/>
            <a:chOff x="0" y="0"/>
            <a:chExt cx="11713721" cy="81021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702225" y="0"/>
              <a:ext cx="3347188" cy="3347188"/>
            </a:xfrm>
            <a:custGeom>
              <a:avLst/>
              <a:gdLst/>
              <a:ahLst/>
              <a:cxnLst/>
              <a:rect r="r" b="b" t="t" l="l"/>
              <a:pathLst>
                <a:path h="3347188" w="3347188">
                  <a:moveTo>
                    <a:pt x="0" y="0"/>
                  </a:moveTo>
                  <a:lnTo>
                    <a:pt x="3347189" y="0"/>
                  </a:lnTo>
                  <a:lnTo>
                    <a:pt x="3347189" y="3347188"/>
                  </a:lnTo>
                  <a:lnTo>
                    <a:pt x="0" y="3347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98360" y="3786306"/>
              <a:ext cx="10667877" cy="15896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99"/>
                </a:lnSpc>
              </a:pPr>
              <a:r>
                <a:rPr lang="en-US" sz="34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Size: smaller binary size (from 2.8 → 1.6GB!)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5375820" y="5375923"/>
              <a:ext cx="25400" cy="1311213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6620462"/>
              <a:ext cx="11713721" cy="1481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35"/>
                </a:lnSpc>
              </a:pPr>
              <a:r>
                <a:rPr lang="en-US" sz="323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Faster CI/CD (testing on MacOS/Windows </a:t>
              </a:r>
            </a:p>
            <a:p>
              <a:pPr algn="ctr">
                <a:lnSpc>
                  <a:spcPts val="4535"/>
                </a:lnSpc>
                <a:spcBef>
                  <a:spcPct val="0"/>
                </a:spcBef>
              </a:pPr>
              <a:r>
                <a:rPr lang="en-US" sz="323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went down from 23 to 6 minutes, almost 4x!)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0" y="2184818"/>
            <a:ext cx="4109740" cy="3374011"/>
            <a:chOff x="0" y="0"/>
            <a:chExt cx="5479653" cy="44986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776570" y="0"/>
              <a:ext cx="3926513" cy="2885987"/>
            </a:xfrm>
            <a:custGeom>
              <a:avLst/>
              <a:gdLst/>
              <a:ahLst/>
              <a:cxnLst/>
              <a:rect r="r" b="b" t="t" l="l"/>
              <a:pathLst>
                <a:path h="2885987" w="3926513">
                  <a:moveTo>
                    <a:pt x="0" y="0"/>
                  </a:moveTo>
                  <a:lnTo>
                    <a:pt x="3926513" y="0"/>
                  </a:lnTo>
                  <a:lnTo>
                    <a:pt x="3926513" y="2885987"/>
                  </a:lnTo>
                  <a:lnTo>
                    <a:pt x="0" y="2885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2946953"/>
              <a:ext cx="5479653" cy="15517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-100 LoC, but more </a:t>
              </a:r>
            </a:p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test coverage!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771159" y="18137"/>
            <a:ext cx="4745682" cy="146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8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Wins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329220" y="6017045"/>
            <a:ext cx="5958780" cy="4077752"/>
            <a:chOff x="0" y="0"/>
            <a:chExt cx="7945041" cy="54370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062983" y="0"/>
              <a:ext cx="3168803" cy="2396407"/>
            </a:xfrm>
            <a:custGeom>
              <a:avLst/>
              <a:gdLst/>
              <a:ahLst/>
              <a:cxnLst/>
              <a:rect r="r" b="b" t="t" l="l"/>
              <a:pathLst>
                <a:path h="2396407" w="3168803">
                  <a:moveTo>
                    <a:pt x="0" y="0"/>
                  </a:moveTo>
                  <a:lnTo>
                    <a:pt x="3168803" y="0"/>
                  </a:lnTo>
                  <a:lnTo>
                    <a:pt x="3168803" y="2396407"/>
                  </a:lnTo>
                  <a:lnTo>
                    <a:pt x="0" y="2396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0" y="2285074"/>
              <a:ext cx="7945041" cy="31519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Sub-second search performance on 200+ arXiv papers (embedded line-by-line)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6844" y="3032407"/>
            <a:ext cx="5626745" cy="4023079"/>
            <a:chOff x="0" y="0"/>
            <a:chExt cx="7502327" cy="53641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117979" y="0"/>
              <a:ext cx="3266368" cy="2600845"/>
            </a:xfrm>
            <a:custGeom>
              <a:avLst/>
              <a:gdLst/>
              <a:ahLst/>
              <a:cxnLst/>
              <a:rect r="r" b="b" t="t" l="l"/>
              <a:pathLst>
                <a:path h="2600845" w="3266368">
                  <a:moveTo>
                    <a:pt x="0" y="0"/>
                  </a:moveTo>
                  <a:lnTo>
                    <a:pt x="3266368" y="0"/>
                  </a:lnTo>
                  <a:lnTo>
                    <a:pt x="3266368" y="2600845"/>
                  </a:lnTo>
                  <a:lnTo>
                    <a:pt x="0" y="2600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3012277"/>
              <a:ext cx="7502327" cy="2351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Qdrant Edge does </a:t>
              </a:r>
            </a:p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not index the embeddings</a:t>
              </a:r>
            </a:p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(every search is a full-scan)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50034" y="5143500"/>
            <a:ext cx="6007596" cy="4777109"/>
            <a:chOff x="0" y="0"/>
            <a:chExt cx="8010128" cy="6369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490107" y="0"/>
              <a:ext cx="3029915" cy="3029915"/>
            </a:xfrm>
            <a:custGeom>
              <a:avLst/>
              <a:gdLst/>
              <a:ahLst/>
              <a:cxnLst/>
              <a:rect r="r" b="b" t="t" l="l"/>
              <a:pathLst>
                <a:path h="3029915" w="3029915">
                  <a:moveTo>
                    <a:pt x="0" y="0"/>
                  </a:moveTo>
                  <a:lnTo>
                    <a:pt x="3029915" y="0"/>
                  </a:lnTo>
                  <a:lnTo>
                    <a:pt x="3029915" y="3029915"/>
                  </a:lnTo>
                  <a:lnTo>
                    <a:pt x="0" y="3029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3217550"/>
              <a:ext cx="8010128" cy="31519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The Rust SDK currently has </a:t>
              </a:r>
            </a:p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only minimal docs and</a:t>
              </a:r>
            </a:p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examples (need to read</a:t>
              </a:r>
            </a:p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the source code sometimes!)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941740" y="18137"/>
            <a:ext cx="6404521" cy="146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8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Caveats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240135" y="2500944"/>
            <a:ext cx="6503789" cy="4033114"/>
            <a:chOff x="0" y="0"/>
            <a:chExt cx="8671719" cy="537748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971117" y="0"/>
              <a:ext cx="2729484" cy="2743200"/>
            </a:xfrm>
            <a:custGeom>
              <a:avLst/>
              <a:gdLst/>
              <a:ahLst/>
              <a:cxnLst/>
              <a:rect r="r" b="b" t="t" l="l"/>
              <a:pathLst>
                <a:path h="2743200" w="2729484">
                  <a:moveTo>
                    <a:pt x="0" y="0"/>
                  </a:moveTo>
                  <a:lnTo>
                    <a:pt x="2729484" y="0"/>
                  </a:lnTo>
                  <a:lnTo>
                    <a:pt x="2729484" y="2743200"/>
                  </a:lnTo>
                  <a:lnTo>
                    <a:pt x="0" y="274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3025657"/>
              <a:ext cx="8671719" cy="2351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Qdrant Edge is currently a Git dependency, which means you can’t publish to cargo 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51456" y="3302073"/>
            <a:ext cx="9985088" cy="490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✅  100% Local And Persistent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✅  Small binary size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✅  Great Speed and Performance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✅  Embeddings and Metadata storage in one solution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✅  Expected a relatively low number of embeddings (no indexing is fine)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096454" y="8605315"/>
            <a:ext cx="4905053" cy="1305970"/>
          </a:xfrm>
          <a:custGeom>
            <a:avLst/>
            <a:gdLst/>
            <a:ahLst/>
            <a:cxnLst/>
            <a:rect r="r" b="b" t="t" l="l"/>
            <a:pathLst>
              <a:path h="1305970" w="4905053">
                <a:moveTo>
                  <a:pt x="0" y="0"/>
                </a:moveTo>
                <a:lnTo>
                  <a:pt x="4905054" y="0"/>
                </a:lnTo>
                <a:lnTo>
                  <a:pt x="4905054" y="1305970"/>
                </a:lnTo>
                <a:lnTo>
                  <a:pt x="0" y="130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53347" y="8224671"/>
            <a:ext cx="5410056" cy="2067257"/>
          </a:xfrm>
          <a:custGeom>
            <a:avLst/>
            <a:gdLst/>
            <a:ahLst/>
            <a:cxnLst/>
            <a:rect r="r" b="b" t="t" l="l"/>
            <a:pathLst>
              <a:path h="2067257" w="5410056">
                <a:moveTo>
                  <a:pt x="0" y="0"/>
                </a:moveTo>
                <a:lnTo>
                  <a:pt x="5410056" y="0"/>
                </a:lnTo>
                <a:lnTo>
                  <a:pt x="5410056" y="2067258"/>
                </a:lnTo>
                <a:lnTo>
                  <a:pt x="0" y="2067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18137"/>
            <a:ext cx="18288000" cy="296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8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is Qdrant Edge Good for Semtools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78038" y="18137"/>
            <a:ext cx="13731925" cy="146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8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Thanks for your attention!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497324" y="4923182"/>
            <a:ext cx="4890702" cy="4890702"/>
          </a:xfrm>
          <a:custGeom>
            <a:avLst/>
            <a:gdLst/>
            <a:ahLst/>
            <a:cxnLst/>
            <a:rect r="r" b="b" t="t" l="l"/>
            <a:pathLst>
              <a:path h="4890702" w="4890702">
                <a:moveTo>
                  <a:pt x="0" y="0"/>
                </a:moveTo>
                <a:lnTo>
                  <a:pt x="4890702" y="0"/>
                </a:lnTo>
                <a:lnTo>
                  <a:pt x="4890702" y="4890702"/>
                </a:lnTo>
                <a:lnTo>
                  <a:pt x="0" y="4890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99222" y="2118232"/>
            <a:ext cx="11689556" cy="20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i="true">
                <a:solidFill>
                  <a:srgbClr val="271203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If you want to follow me on my journey in the AI</a:t>
            </a:r>
          </a:p>
          <a:p>
            <a:pPr algn="ctr">
              <a:lnSpc>
                <a:spcPts val="5599"/>
              </a:lnSpc>
            </a:pPr>
            <a:r>
              <a:rPr lang="en-US" sz="3999" i="true">
                <a:solidFill>
                  <a:srgbClr val="271203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Space, feel free to connect with me on my </a:t>
            </a:r>
          </a:p>
          <a:p>
            <a:pPr algn="ctr">
              <a:lnSpc>
                <a:spcPts val="5599"/>
              </a:lnSpc>
            </a:pPr>
            <a:r>
              <a:rPr lang="en-US" sz="3999" i="true">
                <a:solidFill>
                  <a:srgbClr val="271203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Social Media accounts!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DAHCgsAoV3g</dc:identifier>
  <dcterms:modified xsi:type="dcterms:W3CDTF">2011-08-01T06:04:30Z</dcterms:modified>
  <cp:revision>1</cp:revision>
  <dc:title>semtools_qdrant_27_02_2026</dc:title>
</cp:coreProperties>
</file>